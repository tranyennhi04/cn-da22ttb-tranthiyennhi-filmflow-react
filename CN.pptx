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elvetica World Bold" panose="020B0604020202020204" charset="-128"/>
      <p:regular r:id="rId13"/>
    </p:embeddedFont>
    <p:embeddedFont>
      <p:font typeface="Arimo Bold" panose="020B0604020202020204" charset="0"/>
      <p:regular r:id="rId14"/>
    </p:embeddedFont>
    <p:embeddedFont>
      <p:font typeface="Baloo" panose="020B0604020202020204" charset="0"/>
      <p:regular r:id="rId15"/>
    </p:embeddedFont>
    <p:embeddedFont>
      <p:font typeface="Cabin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Paytone On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68093"/>
            <a:ext cx="11301259" cy="1921214"/>
          </a:xfrm>
          <a:custGeom>
            <a:avLst/>
            <a:gdLst/>
            <a:ahLst/>
            <a:cxnLst/>
            <a:rect l="l" t="t" r="r" b="b"/>
            <a:pathLst>
              <a:path w="11301259" h="1921214">
                <a:moveTo>
                  <a:pt x="0" y="0"/>
                </a:moveTo>
                <a:lnTo>
                  <a:pt x="11301258" y="0"/>
                </a:lnTo>
                <a:lnTo>
                  <a:pt x="11301258" y="1921214"/>
                </a:lnTo>
                <a:lnTo>
                  <a:pt x="0" y="1921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8546" y="4101464"/>
            <a:ext cx="15870907" cy="194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Tìm hiểu hệ thống gợi ý và xây dựng ứng dụng minh họa (Recommendation Systems)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8546" y="2667622"/>
            <a:ext cx="15870907" cy="117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 b="1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ĐỒ ÁN CHUYÊN NGÀNH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8546" y="6759576"/>
            <a:ext cx="16050754" cy="191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SVTH: Trần Thị Yến Nhi                                       GVHD: Nguyễn Khắc Quốc </a:t>
            </a:r>
          </a:p>
          <a:p>
            <a:pPr algn="l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Lớp: DA22TTB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MSSV: 110122133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8536" y="46989"/>
            <a:ext cx="8653264" cy="1177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>
                <a:solidFill>
                  <a:srgbClr val="FF3131"/>
                </a:solidFill>
                <a:latin typeface="Paytone One"/>
                <a:ea typeface="Paytone One"/>
                <a:cs typeface="Paytone One"/>
                <a:sym typeface="Paytone One"/>
              </a:rPr>
              <a:t>Nội dung chính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00993" y="1378902"/>
            <a:ext cx="9223276" cy="6690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Lí do chọn đề tài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Mục tiêu và phạm vi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Công nghệ sử dụng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Kiến  trúc hệ thống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Hệ thống gợi ý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Luồng hoạt động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Kết quả đạt được</a:t>
            </a:r>
          </a:p>
          <a:p>
            <a:pPr marL="1014722" lvl="1" indent="-507361" algn="l">
              <a:lnSpc>
                <a:spcPts val="6579"/>
              </a:lnSpc>
              <a:buAutoNum type="arabicPeriod"/>
            </a:pPr>
            <a:r>
              <a:rPr lang="en-US" sz="4699" b="1">
                <a:solidFill>
                  <a:srgbClr val="1800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Hạn chế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7197" y="9523"/>
            <a:ext cx="7898184" cy="106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0154" lvl="1" indent="-680077" algn="ctr">
              <a:lnSpc>
                <a:spcPts val="8819"/>
              </a:lnSpc>
              <a:buAutoNum type="arabicPeriod"/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Lí do chọn đề tài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25631"/>
            <a:ext cx="16230600" cy="805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2072" lvl="1" indent="-556036" algn="l">
              <a:lnSpc>
                <a:spcPts val="7211"/>
              </a:lnSpc>
              <a:buFont typeface="Arial"/>
              <a:buChar char="•"/>
            </a:pPr>
            <a:r>
              <a:rPr lang="en-US" sz="515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Hiện nay số lượng phim rất nhiều, người dùng khó tìm phim phù hợp với sở thích.</a:t>
            </a:r>
          </a:p>
          <a:p>
            <a:pPr marL="1112072" lvl="1" indent="-556036" algn="l">
              <a:lnSpc>
                <a:spcPts val="7211"/>
              </a:lnSpc>
              <a:spcBef>
                <a:spcPct val="0"/>
              </a:spcBef>
              <a:buFont typeface="Arial"/>
              <a:buChar char="•"/>
            </a:pPr>
            <a:r>
              <a:rPr lang="en-US" sz="515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Hệ thống gợi ý giúp cá nhân hóa trải nghiệm và tiết kiệm thời gian tìm kiếm.</a:t>
            </a:r>
          </a:p>
          <a:p>
            <a:pPr marL="1112072" lvl="1" indent="-556036" algn="l">
              <a:lnSpc>
                <a:spcPts val="7211"/>
              </a:lnSpc>
              <a:spcBef>
                <a:spcPct val="0"/>
              </a:spcBef>
              <a:buFont typeface="Arial"/>
              <a:buChar char="•"/>
            </a:pPr>
            <a:r>
              <a:rPr lang="en-US" sz="515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Đề tài có tính ứng dụng cao và phù hợp với chuyên ngành Công nghệ Thông tin.</a:t>
            </a:r>
          </a:p>
          <a:p>
            <a:pPr marL="1112072" lvl="1" indent="-556036" algn="l">
              <a:lnSpc>
                <a:spcPts val="7211"/>
              </a:lnSpc>
              <a:spcBef>
                <a:spcPct val="0"/>
              </a:spcBef>
              <a:buFont typeface="Arial"/>
              <a:buChar char="•"/>
            </a:pPr>
            <a:r>
              <a:rPr lang="en-US" sz="515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Giúp áp dụng kiến thức về web, cơ sở dữ liệu và thuật toán gợi ý vào thực tế.</a:t>
            </a:r>
          </a:p>
          <a:p>
            <a:pPr algn="ctr">
              <a:lnSpc>
                <a:spcPts val="5951"/>
              </a:lnSpc>
              <a:spcBef>
                <a:spcPct val="0"/>
              </a:spcBef>
            </a:pPr>
            <a:endParaRPr lang="en-US" sz="5150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9584879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2.  Mục tiêu và phạm vi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5322" y="1163514"/>
            <a:ext cx="15457355" cy="963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6"/>
              </a:lnSpc>
            </a:pPr>
            <a:r>
              <a:rPr lang="en-US" sz="526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Mục tiêu:</a:t>
            </a:r>
          </a:p>
          <a:p>
            <a:pPr marL="1108734" lvl="1" indent="-554367" algn="l">
              <a:lnSpc>
                <a:spcPts val="7189"/>
              </a:lnSpc>
              <a:spcBef>
                <a:spcPct val="0"/>
              </a:spcBef>
              <a:buFont typeface="Arial"/>
              <a:buChar char="•"/>
            </a:pPr>
            <a:r>
              <a:rPr lang="en-US" sz="5135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Xây dựng hệ thống gợi ý phim thông minh và cá nhân hóa.</a:t>
            </a:r>
          </a:p>
          <a:p>
            <a:pPr marL="1108734" lvl="1" indent="-554367" algn="l">
              <a:lnSpc>
                <a:spcPts val="7189"/>
              </a:lnSpc>
              <a:spcBef>
                <a:spcPct val="0"/>
              </a:spcBef>
              <a:buFont typeface="Arial"/>
              <a:buChar char="•"/>
            </a:pPr>
            <a:r>
              <a:rPr lang="en-US" sz="5135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Phân tích hành vi người dùng để đề xuất phim phù hợp.</a:t>
            </a:r>
          </a:p>
          <a:p>
            <a:pPr algn="l">
              <a:lnSpc>
                <a:spcPts val="7189"/>
              </a:lnSpc>
              <a:spcBef>
                <a:spcPct val="0"/>
              </a:spcBef>
            </a:pPr>
            <a:r>
              <a:rPr lang="en-US" sz="5135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Phạm vi:</a:t>
            </a:r>
          </a:p>
          <a:p>
            <a:pPr marL="1108734" lvl="1" indent="-554367" algn="l">
              <a:lnSpc>
                <a:spcPts val="7189"/>
              </a:lnSpc>
              <a:spcBef>
                <a:spcPct val="0"/>
              </a:spcBef>
              <a:buFont typeface="Arial"/>
              <a:buChar char="•"/>
            </a:pPr>
            <a:r>
              <a:rPr lang="en-US" sz="5135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Website gợi ý phim.</a:t>
            </a:r>
          </a:p>
          <a:p>
            <a:pPr marL="1108734" lvl="1" indent="-554367" algn="l">
              <a:lnSpc>
                <a:spcPts val="7189"/>
              </a:lnSpc>
              <a:spcBef>
                <a:spcPct val="0"/>
              </a:spcBef>
              <a:buFont typeface="Arial"/>
              <a:buChar char="•"/>
            </a:pPr>
            <a:r>
              <a:rPr lang="en-US" sz="5135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Dữ liệu từ MovieLens.</a:t>
            </a:r>
          </a:p>
          <a:p>
            <a:pPr algn="l">
              <a:lnSpc>
                <a:spcPts val="5910"/>
              </a:lnSpc>
              <a:spcBef>
                <a:spcPct val="0"/>
              </a:spcBef>
            </a:pPr>
            <a:endParaRPr lang="en-US" sz="5135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algn="l">
              <a:lnSpc>
                <a:spcPts val="5910"/>
              </a:lnSpc>
              <a:spcBef>
                <a:spcPct val="0"/>
              </a:spcBef>
            </a:pPr>
            <a:endParaRPr lang="en-US" sz="5135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algn="l">
              <a:lnSpc>
                <a:spcPts val="7220"/>
              </a:lnSpc>
              <a:spcBef>
                <a:spcPct val="0"/>
              </a:spcBef>
            </a:pPr>
            <a:endParaRPr lang="en-US" sz="5135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106680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3. Công nghệ sử dụng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16952" y="1933117"/>
            <a:ext cx="14770724" cy="595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15945" lvl="1" indent="-607973" algn="just">
              <a:lnSpc>
                <a:spcPts val="7884"/>
              </a:lnSpc>
              <a:spcBef>
                <a:spcPct val="0"/>
              </a:spcBef>
              <a:buFont typeface="Arial"/>
              <a:buChar char="•"/>
            </a:pPr>
            <a:r>
              <a:rPr lang="en-US" sz="563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Frontend: ReactJS</a:t>
            </a:r>
          </a:p>
          <a:p>
            <a:pPr marL="1215945" lvl="1" indent="-607973" algn="just">
              <a:lnSpc>
                <a:spcPts val="7884"/>
              </a:lnSpc>
              <a:spcBef>
                <a:spcPct val="0"/>
              </a:spcBef>
              <a:buFont typeface="Arial"/>
              <a:buChar char="•"/>
            </a:pPr>
            <a:r>
              <a:rPr lang="en-US" sz="563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Backend: FastAPI</a:t>
            </a:r>
          </a:p>
          <a:p>
            <a:pPr marL="1215945" lvl="1" indent="-607973" algn="just">
              <a:lnSpc>
                <a:spcPts val="7884"/>
              </a:lnSpc>
              <a:spcBef>
                <a:spcPct val="0"/>
              </a:spcBef>
              <a:buFont typeface="Arial"/>
              <a:buChar char="•"/>
            </a:pPr>
            <a:r>
              <a:rPr lang="en-US" sz="563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Database: PostgreSQL</a:t>
            </a:r>
          </a:p>
          <a:p>
            <a:pPr marL="1215945" lvl="1" indent="-607973" algn="just">
              <a:lnSpc>
                <a:spcPts val="7884"/>
              </a:lnSpc>
              <a:spcBef>
                <a:spcPct val="0"/>
              </a:spcBef>
              <a:buFont typeface="Arial"/>
              <a:buChar char="•"/>
            </a:pPr>
            <a:r>
              <a:rPr lang="en-US" sz="563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Ngôn ngữ &amp; thư viện: Python, scikit-learn</a:t>
            </a:r>
          </a:p>
          <a:p>
            <a:pPr marL="1215945" lvl="1" indent="-607973" algn="just">
              <a:lnSpc>
                <a:spcPts val="7884"/>
              </a:lnSpc>
              <a:spcBef>
                <a:spcPct val="0"/>
              </a:spcBef>
              <a:buFont typeface="Arial"/>
              <a:buChar char="•"/>
            </a:pPr>
            <a:r>
              <a:rPr lang="en-US" sz="5631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Triển khai: Docker</a:t>
            </a:r>
          </a:p>
          <a:p>
            <a:pPr algn="just">
              <a:lnSpc>
                <a:spcPts val="7884"/>
              </a:lnSpc>
              <a:spcBef>
                <a:spcPct val="0"/>
              </a:spcBef>
            </a:pPr>
            <a:endParaRPr lang="en-US" sz="5631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109728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4. Kiến trúc hệ thống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255394"/>
            <a:ext cx="18288000" cy="577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52207" lvl="1" indent="-626103" algn="l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Hệ thống được xây dựng theo mô hình Client – Server.</a:t>
            </a:r>
          </a:p>
          <a:p>
            <a:pPr marL="1252207" lvl="1" indent="-626103" algn="l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ReactJS dùng để xây dựng giao diện cho người dùng.</a:t>
            </a:r>
          </a:p>
          <a:p>
            <a:pPr marL="1252207" lvl="1" indent="-626103" algn="l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FastAPI xử lý các chức năng chính và hệ thống gợi ý.</a:t>
            </a:r>
          </a:p>
          <a:p>
            <a:pPr marL="1252207" lvl="1" indent="-626103" algn="l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PostgreSQL dùng để lưu trữ dữ liệu phim và người dùng.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5799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88392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5.  Hệ thống gợi ý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32800"/>
            <a:ext cx="18288000" cy="729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3796" lvl="1" indent="-636898" algn="l">
              <a:lnSpc>
                <a:spcPts val="8259"/>
              </a:lnSpc>
              <a:spcBef>
                <a:spcPct val="0"/>
              </a:spcBef>
              <a:buFont typeface="Arial"/>
              <a:buChar char="•"/>
            </a:pPr>
            <a:r>
              <a:rPr lang="en-US" sz="58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Content-Based Filtering: gợi ý phim dựa trên nội dung và sở thích người dùng.</a:t>
            </a:r>
          </a:p>
          <a:p>
            <a:pPr marL="1273796" lvl="1" indent="-636898" algn="l">
              <a:lnSpc>
                <a:spcPts val="8259"/>
              </a:lnSpc>
              <a:spcBef>
                <a:spcPct val="0"/>
              </a:spcBef>
              <a:buFont typeface="Arial"/>
              <a:buChar char="•"/>
            </a:pPr>
            <a:r>
              <a:rPr lang="en-US" sz="58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Collaborative Filtering: gợi ý dựa trên hành vi của những người dùng tương tự.</a:t>
            </a:r>
          </a:p>
          <a:p>
            <a:pPr marL="1273796" lvl="1" indent="-636898" algn="l">
              <a:lnSpc>
                <a:spcPts val="8259"/>
              </a:lnSpc>
              <a:spcBef>
                <a:spcPct val="0"/>
              </a:spcBef>
              <a:buFont typeface="Arial"/>
              <a:buChar char="•"/>
            </a:pPr>
            <a:r>
              <a:rPr lang="en-US" sz="58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Hybrid Recommendation: kết hợp hai phương pháp để tăng độ chính xác.</a:t>
            </a:r>
          </a:p>
          <a:p>
            <a:pPr algn="l">
              <a:lnSpc>
                <a:spcPts val="8259"/>
              </a:lnSpc>
              <a:spcBef>
                <a:spcPct val="0"/>
              </a:spcBef>
            </a:pPr>
            <a:endParaRPr lang="en-US" sz="5899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6804" y="2058295"/>
            <a:ext cx="16659309" cy="4852866"/>
            <a:chOff x="0" y="0"/>
            <a:chExt cx="2973327" cy="8661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73331" cy="866128"/>
            </a:xfrm>
            <a:custGeom>
              <a:avLst/>
              <a:gdLst/>
              <a:ahLst/>
              <a:cxnLst/>
              <a:rect l="l" t="t" r="r" b="b"/>
              <a:pathLst>
                <a:path w="2973331" h="866128">
                  <a:moveTo>
                    <a:pt x="0" y="110688"/>
                  </a:moveTo>
                  <a:lnTo>
                    <a:pt x="0" y="609756"/>
                  </a:lnTo>
                  <a:cubicBezTo>
                    <a:pt x="2" y="636052"/>
                    <a:pt x="9367" y="661489"/>
                    <a:pt x="26416" y="681511"/>
                  </a:cubicBezTo>
                  <a:lnTo>
                    <a:pt x="150468" y="827200"/>
                  </a:lnTo>
                  <a:cubicBezTo>
                    <a:pt x="171499" y="851898"/>
                    <a:pt x="202305" y="866128"/>
                    <a:pt x="234744" y="866128"/>
                  </a:cubicBezTo>
                  <a:lnTo>
                    <a:pt x="2738586" y="866128"/>
                  </a:lnTo>
                  <a:cubicBezTo>
                    <a:pt x="2771025" y="866129"/>
                    <a:pt x="2801832" y="851899"/>
                    <a:pt x="2822862" y="827200"/>
                  </a:cubicBezTo>
                  <a:lnTo>
                    <a:pt x="2946915" y="681511"/>
                  </a:lnTo>
                  <a:cubicBezTo>
                    <a:pt x="2963964" y="661489"/>
                    <a:pt x="2973328" y="636052"/>
                    <a:pt x="2973331" y="609756"/>
                  </a:cubicBezTo>
                  <a:lnTo>
                    <a:pt x="2973331" y="110688"/>
                  </a:lnTo>
                  <a:cubicBezTo>
                    <a:pt x="2973331" y="81331"/>
                    <a:pt x="2961668" y="53177"/>
                    <a:pt x="2940909" y="32418"/>
                  </a:cubicBezTo>
                  <a:cubicBezTo>
                    <a:pt x="2920150" y="11660"/>
                    <a:pt x="2891996" y="-1"/>
                    <a:pt x="2862639" y="0"/>
                  </a:cubicBezTo>
                  <a:lnTo>
                    <a:pt x="110688" y="0"/>
                  </a:lnTo>
                  <a:cubicBezTo>
                    <a:pt x="49557" y="0"/>
                    <a:pt x="0" y="49557"/>
                    <a:pt x="0" y="110688"/>
                  </a:cubicBezTo>
                  <a:close/>
                </a:path>
              </a:pathLst>
            </a:custGeom>
            <a:blipFill>
              <a:blip r:embed="rId2"/>
              <a:stretch>
                <a:fillRect l="-381" r="-38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0" y="-40007"/>
            <a:ext cx="7644507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6. Luồng hoạt động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82296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7. Kết quả đạt được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8662" y="1363973"/>
            <a:ext cx="17334879" cy="6417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16975" lvl="1" indent="-658487" algn="l">
              <a:lnSpc>
                <a:spcPts val="8539"/>
              </a:lnSpc>
              <a:spcBef>
                <a:spcPct val="0"/>
              </a:spcBef>
              <a:buFont typeface="Arial"/>
              <a:buChar char="•"/>
            </a:pPr>
            <a:r>
              <a:rPr lang="en-US" sz="60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Xây dựng thành công website gợi ý phim.</a:t>
            </a:r>
          </a:p>
          <a:p>
            <a:pPr marL="1316975" lvl="1" indent="-658487" algn="l">
              <a:lnSpc>
                <a:spcPts val="8539"/>
              </a:lnSpc>
              <a:spcBef>
                <a:spcPct val="0"/>
              </a:spcBef>
              <a:buFont typeface="Arial"/>
              <a:buChar char="•"/>
            </a:pPr>
            <a:r>
              <a:rPr lang="en-US" sz="60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Hệ thống có thể đề xuất phim phù hợp với sở thích người dùng.</a:t>
            </a:r>
          </a:p>
          <a:p>
            <a:pPr marL="1316975" lvl="1" indent="-658487" algn="l">
              <a:lnSpc>
                <a:spcPts val="8539"/>
              </a:lnSpc>
              <a:spcBef>
                <a:spcPct val="0"/>
              </a:spcBef>
              <a:buFont typeface="Arial"/>
              <a:buChar char="•"/>
            </a:pPr>
            <a:r>
              <a:rPr lang="en-US" sz="60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Mô hình Hybrid hoạt động hiệu quả trong việc gợi ý.</a:t>
            </a:r>
          </a:p>
          <a:p>
            <a:pPr algn="l">
              <a:lnSpc>
                <a:spcPts val="8539"/>
              </a:lnSpc>
              <a:spcBef>
                <a:spcPct val="0"/>
              </a:spcBef>
            </a:pPr>
            <a:endParaRPr lang="en-US" sz="6099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007"/>
            <a:ext cx="123444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0077" lvl="1"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FF3131"/>
                </a:solidFill>
                <a:latin typeface="Baloo"/>
                <a:ea typeface="Baloo"/>
                <a:cs typeface="Baloo"/>
                <a:sym typeface="Baloo"/>
              </a:rPr>
              <a:t>8. Hạn chế và hướng phát triển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85825"/>
            <a:ext cx="15987364" cy="757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- Bảo mật và xác thực: Chưa có hệ thống xác thực mạnh mẽ và phân quyền chặt chẽ cho các endpoint ghi.</a:t>
            </a:r>
          </a:p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- Hiệu năng với dữ liệu lớn: Các phép toán tra cứu và so sánh văn bản có thể chậm khi dữ liệu lớn, thiếu cache phân tán và phân trang chuẩn cho kết quả lớn.</a:t>
            </a:r>
          </a:p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- Quản lý nội dung: Chưa có cơ chế kiểm duyệt, lọc spam hoặc công cụ quản lý bình luận.</a:t>
            </a:r>
          </a:p>
          <a:p>
            <a:pPr algn="l">
              <a:lnSpc>
                <a:spcPts val="7559"/>
              </a:lnSpc>
              <a:spcBef>
                <a:spcPct val="0"/>
              </a:spcBef>
            </a:pPr>
            <a:endParaRPr lang="en-US" sz="5399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82181" y="809708"/>
            <a:ext cx="4723638" cy="4723638"/>
          </a:xfrm>
          <a:custGeom>
            <a:avLst/>
            <a:gdLst/>
            <a:ahLst/>
            <a:cxnLst/>
            <a:rect l="l" t="t" r="r" b="b"/>
            <a:pathLst>
              <a:path w="4723638" h="4723638">
                <a:moveTo>
                  <a:pt x="0" y="0"/>
                </a:moveTo>
                <a:lnTo>
                  <a:pt x="4723638" y="0"/>
                </a:lnTo>
                <a:lnTo>
                  <a:pt x="4723638" y="4723637"/>
                </a:lnTo>
                <a:lnTo>
                  <a:pt x="0" y="4723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5400" y="6410613"/>
            <a:ext cx="15849600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9"/>
              </a:lnSpc>
              <a:spcBef>
                <a:spcPct val="0"/>
              </a:spcBef>
            </a:pPr>
            <a:r>
              <a:rPr lang="en-US" sz="8699">
                <a:solidFill>
                  <a:srgbClr val="60D8F8"/>
                </a:solidFill>
                <a:latin typeface="Baloo"/>
                <a:ea typeface="Baloo"/>
                <a:cs typeface="Baloo"/>
                <a:sym typeface="Baloo"/>
              </a:rPr>
              <a:t>Cảm ơn thầy cô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491</Words>
  <Application>Microsoft Office PowerPoint</Application>
  <PresentationFormat>Custom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Paytone One</vt:lpstr>
      <vt:lpstr>Baloo</vt:lpstr>
      <vt:lpstr>Arial</vt:lpstr>
      <vt:lpstr>Calibri</vt:lpstr>
      <vt:lpstr>Helvetica World Bold</vt:lpstr>
      <vt:lpstr>Inter Bold</vt:lpstr>
      <vt:lpstr>Cabin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</dc:title>
  <cp:lastModifiedBy>Tran Thi Yen Nhi</cp:lastModifiedBy>
  <cp:revision>8</cp:revision>
  <dcterms:created xsi:type="dcterms:W3CDTF">2006-08-16T00:00:00Z</dcterms:created>
  <dcterms:modified xsi:type="dcterms:W3CDTF">2025-12-25T12:16:58Z</dcterms:modified>
  <dc:identifier>DAG8gRHLDZU</dc:identifier>
</cp:coreProperties>
</file>